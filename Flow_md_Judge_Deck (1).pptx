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TicketSphere as a multi-agent triage pipeline for Jira tickets.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platform teams — Ops, Azure, AWS, GCP. Tickets land in Jira all day: outages, slow queries, access requests, deployment failures. Today a human reads each one, guesses how bad it is, guesses who owns it, and moves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one-line pipeline: Jira board, poll, de-identify, retrieve, ten-node graph, human gate, write back, audit.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Managers can add documents at any time; the backend starts polling on its own before anyone clicks anything.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 3: inside one ticket. A LangGraph state graph of ten nodes, with both retry loops capped at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node is a specialist with its own prompt, model tier and output schema; handoffs are validated typed objects, never prose.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Nodes six to ten: route, reflect, verify, gate, sync.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RAG sits: before the model decides anything, we search the organisation's own corpus and put the matching passages in the prompt.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gate node sets needs_human; the sync node turns that into one of three statuses.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 5: two-way sync back to Jira. Three things are written to the issue on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an honest accounting: what is fully built and running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43000"/>
            <a:ext cx="16002000" cy="8001000"/>
          </a:xfrm>
          <a:prstGeom prst="rect">
            <a:avLst/>
          </a:prstGeom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5455107" y="754360"/>
            <a:ext cx="1858883" cy="1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598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DEMO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909020"/>
            <a:ext cx="17602200" cy="1158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557"/>
              </a:lnSpc>
              <a:buNone/>
            </a:pPr>
            <a:r>
              <a:rPr lang="en-US" sz="12600" b="1" spc="-189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TicketSphere</a:t>
            </a:r>
            <a:endParaRPr lang="en-US" sz="12600" dirty="0"/>
          </a:p>
        </p:txBody>
      </p:sp>
      <p:sp>
        <p:nvSpPr>
          <p:cNvPr id="5" name="Text 3"/>
          <p:cNvSpPr/>
          <p:nvPr/>
        </p:nvSpPr>
        <p:spPr>
          <a:xfrm>
            <a:off x="1143000" y="5670649"/>
            <a:ext cx="11525250" cy="311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48"/>
              </a:lnSpc>
              <a:buNone/>
            </a:pPr>
            <a:r>
              <a:rPr lang="en-US" sz="300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ticket intelligence for application maintenance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43000" y="6899871"/>
            <a:ext cx="8829675" cy="1596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multi-agent pipeline that reads every Jira ticket, retrieves what the organisation already knows about failures of that shape, and produces a cited, scored, auditable decision — never silently, never without a reason a reviewer can point at.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43000" y="8755360"/>
            <a:ext cx="3416102" cy="1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1D1F21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Maintenance / ITSM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419997" y="8755360"/>
            <a:ext cx="124222" cy="1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1D1F21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39469" y="8755360"/>
            <a:ext cx="4114493" cy="1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1D1F21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Ticketing system of record: Jira Cloud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54360"/>
            <a:ext cx="1864340" cy="1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598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THE PROBLEM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779290"/>
            <a:ext cx="17602200" cy="54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924"/>
              </a:lnSpc>
              <a:buNone/>
            </a:pPr>
            <a:r>
              <a:rPr lang="en-US" sz="5700" b="1" spc="-85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 today is slow, inconsistent, and undocumented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916305" y="3202285"/>
            <a:ext cx="13637895" cy="32366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34"/>
              </a:lnSpc>
              <a:buNone/>
            </a:pPr>
            <a:r>
              <a:rPr lang="en-US" sz="25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platform teams — Ops, Azure, AWS, GCP — take outages, slow queries, access requests and deployment failures, all day</a:t>
            </a:r>
            <a:endParaRPr lang="en-US" sz="2550" dirty="0"/>
          </a:p>
          <a:p>
            <a:pPr algn="l" indent="0" marL="0">
              <a:lnSpc>
                <a:spcPct val="122034"/>
              </a:lnSpc>
              <a:buNone/>
            </a:pPr>
            <a:r>
              <a:rPr lang="en-US" sz="25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human reads each ticket, guesses how bad it is, guesses who owns it, and moves it</a:t>
            </a:r>
            <a:endParaRPr lang="en-US" sz="2550" dirty="0"/>
          </a:p>
          <a:p>
            <a:pPr algn="l" indent="0" marL="0">
              <a:lnSpc>
                <a:spcPct val="122034"/>
              </a:lnSpc>
              <a:buNone/>
            </a:pPr>
            <a:r>
              <a:rPr lang="en-US" sz="25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guess is inconsistent between people, and inconsistent for the same person on a Friday evening</a:t>
            </a:r>
            <a:endParaRPr lang="en-US" sz="2550" dirty="0"/>
          </a:p>
          <a:p>
            <a:pPr algn="l" indent="0" marL="0">
              <a:lnSpc>
                <a:spcPct val="122034"/>
              </a:lnSpc>
              <a:buNone/>
            </a:pPr>
            <a:r>
              <a:rPr lang="en-US" sz="25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can reconstruct why a ticket was called a P1 last March</a:t>
            </a:r>
            <a:endParaRPr lang="en-US" sz="2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54360"/>
            <a:ext cx="2416810" cy="1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598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SYSTEM OVERVIEW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779290"/>
            <a:ext cx="17602200" cy="54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924"/>
              </a:lnSpc>
              <a:buNone/>
            </a:pPr>
            <a:r>
              <a:rPr lang="en-US" sz="5700" b="1" spc="-85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pipeline, board to board</a:t>
            </a:r>
            <a:endParaRPr lang="en-US" sz="5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3200400"/>
            <a:ext cx="16002000" cy="235317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6111677"/>
            <a:ext cx="14716125" cy="6686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3636"/>
              </a:lnSpc>
              <a:buNone/>
            </a:pPr>
            <a:r>
              <a:rPr lang="en-US" sz="1950" dirty="0">
                <a:solidFill>
                  <a:srgbClr val="1C202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rest of the pipeline is byte-for-byte identical whether tickets come from the live Jira adapter or the synthetic seed — the offline fallback if the network fails.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54360"/>
            <a:ext cx="3978940" cy="1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598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ACT 0 — BEFORE ANYONE LOGS IN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779290"/>
            <a:ext cx="17602200" cy="54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924"/>
              </a:lnSpc>
              <a:buNone/>
            </a:pPr>
            <a:r>
              <a:rPr lang="en-US" sz="5700" b="1" spc="-85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knowledge base is already indexed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143000" y="3879850"/>
            <a:ext cx="16002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3879850"/>
            <a:ext cx="5080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086100"/>
            <a:ext cx="5003800" cy="717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08" kern="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CORPUS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23000" y="3879850"/>
            <a:ext cx="5080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223000" y="3086100"/>
            <a:ext cx="5003800" cy="717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08" kern="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DOC_TYPE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303001" y="3879850"/>
            <a:ext cx="5842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1303001" y="3086100"/>
            <a:ext cx="5788660" cy="717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08" kern="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43000" y="4852988"/>
            <a:ext cx="16002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43000" y="4852988"/>
            <a:ext cx="5080000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000500"/>
            <a:ext cx="5003800" cy="776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564"/>
              </a:lnSpc>
              <a:buNone/>
            </a:pPr>
            <a:r>
              <a:rPr lang="en-US" sz="2025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tickets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6223000" y="4852988"/>
            <a:ext cx="5080000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223000" y="4000500"/>
            <a:ext cx="5003800" cy="776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174"/>
              </a:lnSpc>
              <a:buNone/>
            </a:pPr>
            <a:r>
              <a:rPr lang="en-US" sz="1875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ticket_history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11303001" y="4852988"/>
            <a:ext cx="5842000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1303001" y="4000500"/>
            <a:ext cx="5788660" cy="776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174"/>
              </a:lnSpc>
              <a:buNone/>
            </a:pPr>
            <a:r>
              <a:rPr lang="en-US" sz="1875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 incidents with their real resolution times — the precedent library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1143000" y="5826125"/>
            <a:ext cx="16002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43000" y="5826125"/>
            <a:ext cx="5080000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4973638"/>
            <a:ext cx="5003800" cy="776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564"/>
              </a:lnSpc>
              <a:buNone/>
            </a:pPr>
            <a:r>
              <a:rPr lang="en-US" sz="2025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Runbooks</a:t>
            </a:r>
            <a:endParaRPr lang="en-US" sz="2025" dirty="0"/>
          </a:p>
        </p:txBody>
      </p:sp>
      <p:sp>
        <p:nvSpPr>
          <p:cNvPr id="21" name="Shape 19"/>
          <p:cNvSpPr/>
          <p:nvPr/>
        </p:nvSpPr>
        <p:spPr>
          <a:xfrm>
            <a:off x="6223000" y="5826125"/>
            <a:ext cx="5080000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223000" y="4973638"/>
            <a:ext cx="5003800" cy="776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174"/>
              </a:lnSpc>
              <a:buNone/>
            </a:pPr>
            <a:r>
              <a:rPr lang="en-US" sz="1875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runbook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11303001" y="5826125"/>
            <a:ext cx="5842000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1303001" y="4973638"/>
            <a:ext cx="5788660" cy="776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174"/>
              </a:lnSpc>
              <a:buNone/>
            </a:pPr>
            <a:r>
              <a:rPr lang="en-US" sz="1875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of procedures, troubleshooting guide and expected outcomes for several incidents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1143000" y="6603306"/>
            <a:ext cx="16002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143000" y="6603306"/>
            <a:ext cx="5080000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143000" y="5946775"/>
            <a:ext cx="5003800" cy="580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564"/>
              </a:lnSpc>
              <a:buNone/>
            </a:pPr>
            <a:r>
              <a:rPr lang="en-US" sz="2025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catalogue</a:t>
            </a:r>
            <a:endParaRPr lang="en-US" sz="2025" dirty="0"/>
          </a:p>
        </p:txBody>
      </p:sp>
      <p:sp>
        <p:nvSpPr>
          <p:cNvPr id="28" name="Shape 26"/>
          <p:cNvSpPr/>
          <p:nvPr/>
        </p:nvSpPr>
        <p:spPr>
          <a:xfrm>
            <a:off x="6223000" y="6603306"/>
            <a:ext cx="5080000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223000" y="5946775"/>
            <a:ext cx="5003800" cy="580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174"/>
              </a:lnSpc>
              <a:buNone/>
            </a:pPr>
            <a:r>
              <a:rPr lang="en-US" sz="1875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service_catalog</a:t>
            </a:r>
            <a:endParaRPr lang="en-US" sz="1875" dirty="0"/>
          </a:p>
        </p:txBody>
      </p:sp>
      <p:sp>
        <p:nvSpPr>
          <p:cNvPr id="30" name="Shape 28"/>
          <p:cNvSpPr/>
          <p:nvPr/>
        </p:nvSpPr>
        <p:spPr>
          <a:xfrm>
            <a:off x="11303001" y="6603306"/>
            <a:ext cx="5842000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1303001" y="5946775"/>
            <a:ext cx="5788660" cy="580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174"/>
              </a:lnSpc>
              <a:buNone/>
            </a:pPr>
            <a:r>
              <a:rPr lang="en-US" sz="1875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team owns which service</a:t>
            </a:r>
            <a:endParaRPr lang="en-US" sz="1875" dirty="0"/>
          </a:p>
        </p:txBody>
      </p:sp>
      <p:sp>
        <p:nvSpPr>
          <p:cNvPr id="32" name="Shape 30"/>
          <p:cNvSpPr/>
          <p:nvPr/>
        </p:nvSpPr>
        <p:spPr>
          <a:xfrm>
            <a:off x="1143000" y="7380486"/>
            <a:ext cx="16002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43000" y="7380486"/>
            <a:ext cx="5080000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143000" y="6723956"/>
            <a:ext cx="5003800" cy="580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564"/>
              </a:lnSpc>
              <a:buNone/>
            </a:pPr>
            <a:r>
              <a:rPr lang="en-US" sz="2025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policy</a:t>
            </a:r>
            <a:endParaRPr lang="en-US" sz="2025" dirty="0"/>
          </a:p>
        </p:txBody>
      </p:sp>
      <p:sp>
        <p:nvSpPr>
          <p:cNvPr id="35" name="Shape 33"/>
          <p:cNvSpPr/>
          <p:nvPr/>
        </p:nvSpPr>
        <p:spPr>
          <a:xfrm>
            <a:off x="6223000" y="7380486"/>
            <a:ext cx="5080000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223000" y="6723956"/>
            <a:ext cx="5003800" cy="580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174"/>
              </a:lnSpc>
              <a:buNone/>
            </a:pPr>
            <a:r>
              <a:rPr lang="en-US" sz="1875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sla_policy</a:t>
            </a:r>
            <a:endParaRPr lang="en-US" sz="1875" dirty="0"/>
          </a:p>
        </p:txBody>
      </p:sp>
      <p:sp>
        <p:nvSpPr>
          <p:cNvPr id="37" name="Shape 35"/>
          <p:cNvSpPr/>
          <p:nvPr/>
        </p:nvSpPr>
        <p:spPr>
          <a:xfrm>
            <a:off x="11303001" y="7380486"/>
            <a:ext cx="5842000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11303001" y="6723956"/>
            <a:ext cx="5788660" cy="580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174"/>
              </a:lnSpc>
              <a:buNone/>
            </a:pPr>
            <a:r>
              <a:rPr lang="en-US" sz="1875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→ response and resolution minutes</a:t>
            </a:r>
            <a:endParaRPr lang="en-US" sz="1875" dirty="0"/>
          </a:p>
        </p:txBody>
      </p:sp>
      <p:sp>
        <p:nvSpPr>
          <p:cNvPr id="39" name="Shape 37"/>
          <p:cNvSpPr/>
          <p:nvPr/>
        </p:nvSpPr>
        <p:spPr>
          <a:xfrm>
            <a:off x="1143000" y="8157667"/>
            <a:ext cx="16002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143000" y="8157667"/>
            <a:ext cx="5080000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1143000" y="7501136"/>
            <a:ext cx="5003800" cy="580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564"/>
              </a:lnSpc>
              <a:buNone/>
            </a:pPr>
            <a:r>
              <a:rPr lang="en-US" sz="2025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 Rules</a:t>
            </a:r>
            <a:endParaRPr lang="en-US" sz="2025" dirty="0"/>
          </a:p>
        </p:txBody>
      </p:sp>
      <p:sp>
        <p:nvSpPr>
          <p:cNvPr id="42" name="Shape 40"/>
          <p:cNvSpPr/>
          <p:nvPr/>
        </p:nvSpPr>
        <p:spPr>
          <a:xfrm>
            <a:off x="6223000" y="8157667"/>
            <a:ext cx="5080000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223000" y="7501136"/>
            <a:ext cx="5003800" cy="580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174"/>
              </a:lnSpc>
              <a:buNone/>
            </a:pPr>
            <a:r>
              <a:rPr lang="en-US" sz="1875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escalation_matrix</a:t>
            </a:r>
            <a:endParaRPr lang="en-US" sz="1875" dirty="0"/>
          </a:p>
        </p:txBody>
      </p:sp>
      <p:sp>
        <p:nvSpPr>
          <p:cNvPr id="44" name="Shape 42"/>
          <p:cNvSpPr/>
          <p:nvPr/>
        </p:nvSpPr>
        <p:spPr>
          <a:xfrm>
            <a:off x="11303001" y="8157667"/>
            <a:ext cx="5842000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11303001" y="7501136"/>
            <a:ext cx="5788660" cy="580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174"/>
              </a:lnSpc>
              <a:buNone/>
            </a:pPr>
            <a:r>
              <a:rPr lang="en-US" sz="1875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human must be involved (restricted sensitivity)</a:t>
            </a:r>
            <a:endParaRPr lang="en-US" sz="1875" dirty="0"/>
          </a:p>
        </p:txBody>
      </p:sp>
      <p:sp>
        <p:nvSpPr>
          <p:cNvPr id="46" name="Text 44"/>
          <p:cNvSpPr/>
          <p:nvPr/>
        </p:nvSpPr>
        <p:spPr>
          <a:xfrm>
            <a:off x="1143000" y="8725297"/>
            <a:ext cx="14716125" cy="6686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3636"/>
              </a:lnSpc>
              <a:buNone/>
            </a:pPr>
            <a:r>
              <a:rPr lang="en-US" sz="1950" dirty="0">
                <a:solidFill>
                  <a:srgbClr val="1C202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document is chunked, embedded, and stored with governance metadata — allowed_roles, sensitivity, team, doc_type — so access control is applied inside the search query, not filtered afterwards.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54360"/>
            <a:ext cx="3978940" cy="1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598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ACT 0 — BEFORE ANYONE LOGS IN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779290"/>
            <a:ext cx="17602200" cy="54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924"/>
              </a:lnSpc>
              <a:buNone/>
            </a:pPr>
            <a:r>
              <a:rPr lang="en-US" sz="5700" b="1" spc="-85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 and the background threads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916305" y="3202285"/>
            <a:ext cx="13637895" cy="2550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34"/>
              </a:lnSpc>
              <a:buNone/>
            </a:pPr>
            <a:r>
              <a:rPr lang="en-US" sz="25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 launches two daemon threads: the ticket poller, using atlassian APIs</a:t>
            </a:r>
            <a:endParaRPr lang="en-US" sz="2550" dirty="0"/>
          </a:p>
          <a:p>
            <a:pPr algn="l" indent="0" marL="0">
              <a:lnSpc>
                <a:spcPct val="122034"/>
              </a:lnSpc>
              <a:buNone/>
            </a:pPr>
            <a:r>
              <a:rPr lang="en-US" sz="25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(Service Level Agreement) monitor, which every 15 minutes emails managers about any open ticket that has burned 70% of its resolution target</a:t>
            </a:r>
            <a:endParaRPr lang="en-US" sz="2550" dirty="0"/>
          </a:p>
          <a:p>
            <a:pPr algn="l" indent="0" marL="0">
              <a:lnSpc>
                <a:spcPct val="122034"/>
              </a:lnSpc>
              <a:buNone/>
            </a:pPr>
            <a:r>
              <a:rPr lang="en-US" sz="25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 is already ingesting before anyone clicks anything — Refresh only shows it happening on demand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16305" y="5715000"/>
            <a:ext cx="16708755" cy="10419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26695" indent="-226695">
              <a:lnSpc>
                <a:spcPct val="133983"/>
              </a:lnSpc>
              <a:buSzPct val="100000"/>
              <a:buChar char="•"/>
              <a:tabLst>
                <a:tab pos="226695" algn="l"/>
              </a:tabLst>
            </a:pPr>
            <a:r>
              <a:rPr lang="en-US" sz="25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Managers add documents at any time on the Knowledge Base screen — PDF upload or paste</a:t>
            </a:r>
            <a:endParaRPr lang="en-US" sz="2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54360"/>
            <a:ext cx="3375392" cy="1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598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ACT 3 — INSIDE ONE TICKET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779290"/>
            <a:ext cx="17602200" cy="54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924"/>
              </a:lnSpc>
              <a:buNone/>
            </a:pPr>
            <a:r>
              <a:rPr lang="en-US" sz="5700" b="1" spc="-85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ten-node triage graph</a:t>
            </a:r>
            <a:endParaRPr lang="en-US" sz="5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3200400"/>
            <a:ext cx="16002000" cy="498881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54360"/>
            <a:ext cx="3375392" cy="1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598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ACT 3 — INSIDE ONE TICKET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779290"/>
            <a:ext cx="17602200" cy="54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924"/>
              </a:lnSpc>
              <a:buNone/>
            </a:pPr>
            <a:r>
              <a:rPr lang="en-US" sz="5700" b="1" spc="-85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Nodes 1–5: understand, then decide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143000" y="3879850"/>
            <a:ext cx="16002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3879850"/>
            <a:ext cx="8001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086100"/>
            <a:ext cx="8012430" cy="717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08" kern="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0" y="3879850"/>
            <a:ext cx="8001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0" y="3086100"/>
            <a:ext cx="8012430" cy="717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08" kern="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43000" y="4657030"/>
            <a:ext cx="16002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43000" y="4657030"/>
            <a:ext cx="8001000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000500"/>
            <a:ext cx="8012430" cy="580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564"/>
              </a:lnSpc>
              <a:buNone/>
            </a:pPr>
            <a:r>
              <a:rPr lang="en-US" sz="2025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normalize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9144000" y="4657030"/>
            <a:ext cx="8001000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0" y="4000500"/>
            <a:ext cx="8012430" cy="580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174"/>
              </a:lnSpc>
              <a:buNone/>
            </a:pPr>
            <a:r>
              <a:rPr lang="en-US" sz="1875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and structure ticket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1143000" y="5434211"/>
            <a:ext cx="16002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43000" y="5434211"/>
            <a:ext cx="8001000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4777680"/>
            <a:ext cx="8012430" cy="580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564"/>
              </a:lnSpc>
              <a:buNone/>
            </a:pPr>
            <a:r>
              <a:rPr lang="en-US" sz="2025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enrich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9144000" y="5434211"/>
            <a:ext cx="8001000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0" y="4777680"/>
            <a:ext cx="8012430" cy="580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174"/>
              </a:lnSpc>
              <a:buNone/>
            </a:pPr>
            <a:r>
              <a:rPr lang="en-US" sz="1875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knowledge base, runbook, catalogue and SLA policy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1143000" y="6211391"/>
            <a:ext cx="16002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43000" y="6211391"/>
            <a:ext cx="8001000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" y="5554861"/>
            <a:ext cx="8012430" cy="580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564"/>
              </a:lnSpc>
              <a:buNone/>
            </a:pPr>
            <a:r>
              <a:rPr lang="en-US" sz="2025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grade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9144000" y="6211391"/>
            <a:ext cx="8001000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0" y="5554861"/>
            <a:ext cx="8012430" cy="580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174"/>
              </a:lnSpc>
              <a:buNone/>
            </a:pPr>
            <a:r>
              <a:rPr lang="en-US" sz="1875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Corrective RAG — check retrieval quality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1143000" y="6988572"/>
            <a:ext cx="16002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43000" y="6988572"/>
            <a:ext cx="8001000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143000" y="6332041"/>
            <a:ext cx="8012430" cy="580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564"/>
              </a:lnSpc>
              <a:buNone/>
            </a:pPr>
            <a:r>
              <a:rPr lang="en-US" sz="2025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classify</a:t>
            </a:r>
            <a:endParaRPr lang="en-US" sz="2025" dirty="0"/>
          </a:p>
        </p:txBody>
      </p:sp>
      <p:sp>
        <p:nvSpPr>
          <p:cNvPr id="27" name="Shape 25"/>
          <p:cNvSpPr/>
          <p:nvPr/>
        </p:nvSpPr>
        <p:spPr>
          <a:xfrm>
            <a:off x="9144000" y="6988572"/>
            <a:ext cx="8001000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0" y="6332041"/>
            <a:ext cx="8012430" cy="580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174"/>
              </a:lnSpc>
              <a:buNone/>
            </a:pPr>
            <a:r>
              <a:rPr lang="en-US" sz="1875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determining categories - azure/aws/gcp/ops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1143000" y="7765752"/>
            <a:ext cx="16002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7765752"/>
            <a:ext cx="8001000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143000" y="7109222"/>
            <a:ext cx="8012430" cy="580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564"/>
              </a:lnSpc>
              <a:buNone/>
            </a:pPr>
            <a:r>
              <a:rPr lang="en-US" sz="2025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assess</a:t>
            </a:r>
            <a:endParaRPr lang="en-US" sz="2025" dirty="0"/>
          </a:p>
        </p:txBody>
      </p:sp>
      <p:sp>
        <p:nvSpPr>
          <p:cNvPr id="32" name="Shape 30"/>
          <p:cNvSpPr/>
          <p:nvPr/>
        </p:nvSpPr>
        <p:spPr>
          <a:xfrm>
            <a:off x="9144000" y="7765752"/>
            <a:ext cx="8001000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0" y="7109222"/>
            <a:ext cx="8012430" cy="580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174"/>
              </a:lnSpc>
              <a:buNone/>
            </a:pPr>
            <a:r>
              <a:rPr lang="en-US" sz="1875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 Priority against the SLA policy and priority rulebook</a:t>
            </a:r>
            <a:endParaRPr lang="en-US" sz="18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54360"/>
            <a:ext cx="3375392" cy="1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598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ACT 3 — INSIDE ONE TICKET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779290"/>
            <a:ext cx="17602200" cy="54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924"/>
              </a:lnSpc>
              <a:buNone/>
            </a:pPr>
            <a:r>
              <a:rPr lang="en-US" sz="5700" b="1" spc="-85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Nodes 6–10: check, then act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143000" y="3879850"/>
            <a:ext cx="16002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3879850"/>
            <a:ext cx="8001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086100"/>
            <a:ext cx="8012430" cy="717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08" kern="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0" y="3879850"/>
            <a:ext cx="8001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0" y="3086100"/>
            <a:ext cx="8012430" cy="717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08" kern="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43000" y="4657030"/>
            <a:ext cx="16002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43000" y="4657030"/>
            <a:ext cx="8001000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000500"/>
            <a:ext cx="8012430" cy="580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564"/>
              </a:lnSpc>
              <a:buNone/>
            </a:pPr>
            <a:r>
              <a:rPr lang="en-US" sz="2025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route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9144000" y="4657030"/>
            <a:ext cx="8001000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0" y="4000500"/>
            <a:ext cx="8012430" cy="580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174"/>
              </a:lnSpc>
              <a:buNone/>
            </a:pPr>
            <a:r>
              <a:rPr lang="en-US" sz="1875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determining Owning team from the service catalogue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1143000" y="5434211"/>
            <a:ext cx="16002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43000" y="5434211"/>
            <a:ext cx="8001000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4777680"/>
            <a:ext cx="8012430" cy="580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564"/>
              </a:lnSpc>
              <a:buNone/>
            </a:pPr>
            <a:r>
              <a:rPr lang="en-US" sz="2025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· reflect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9144000" y="5434211"/>
            <a:ext cx="8001000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0" y="4777680"/>
            <a:ext cx="8012430" cy="580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174"/>
              </a:lnSpc>
              <a:buNone/>
            </a:pPr>
            <a:r>
              <a:rPr lang="en-US" sz="1875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Self-critique the decision — it may only lower confidence, never raise it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1143000" y="6211391"/>
            <a:ext cx="16002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43000" y="6211391"/>
            <a:ext cx="8001000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" y="5554861"/>
            <a:ext cx="8012430" cy="580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564"/>
              </a:lnSpc>
              <a:buNone/>
            </a:pPr>
            <a:r>
              <a:rPr lang="en-US" sz="2025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· verify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9144000" y="6211391"/>
            <a:ext cx="8001000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0" y="5554861"/>
            <a:ext cx="8012430" cy="580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174"/>
              </a:lnSpc>
              <a:buNone/>
            </a:pPr>
            <a:r>
              <a:rPr lang="en-US" sz="1875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guardrails, policy, PII leak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1143000" y="6988572"/>
            <a:ext cx="16002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43000" y="6988572"/>
            <a:ext cx="8001000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143000" y="6332041"/>
            <a:ext cx="8012430" cy="580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564"/>
              </a:lnSpc>
              <a:buNone/>
            </a:pPr>
            <a:r>
              <a:rPr lang="en-US" sz="2025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· gate</a:t>
            </a:r>
            <a:endParaRPr lang="en-US" sz="2025" dirty="0"/>
          </a:p>
        </p:txBody>
      </p:sp>
      <p:sp>
        <p:nvSpPr>
          <p:cNvPr id="27" name="Shape 25"/>
          <p:cNvSpPr/>
          <p:nvPr/>
        </p:nvSpPr>
        <p:spPr>
          <a:xfrm>
            <a:off x="9144000" y="6988572"/>
            <a:ext cx="8001000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0" y="6332041"/>
            <a:ext cx="8012430" cy="580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174"/>
              </a:lnSpc>
              <a:buNone/>
            </a:pPr>
            <a:r>
              <a:rPr lang="en-US" sz="1875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 decision — does this need a senior approval?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1143000" y="7765752"/>
            <a:ext cx="16002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143000" y="7765752"/>
            <a:ext cx="8001000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143000" y="7109222"/>
            <a:ext cx="8012430" cy="580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564"/>
              </a:lnSpc>
              <a:buNone/>
            </a:pPr>
            <a:r>
              <a:rPr lang="en-US" sz="2025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sync</a:t>
            </a:r>
            <a:endParaRPr lang="en-US" sz="2025" dirty="0"/>
          </a:p>
        </p:txBody>
      </p:sp>
      <p:sp>
        <p:nvSpPr>
          <p:cNvPr id="32" name="Shape 30"/>
          <p:cNvSpPr/>
          <p:nvPr/>
        </p:nvSpPr>
        <p:spPr>
          <a:xfrm>
            <a:off x="9144000" y="7765752"/>
            <a:ext cx="8001000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0" y="7109222"/>
            <a:ext cx="8012430" cy="580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174"/>
              </a:lnSpc>
              <a:buNone/>
            </a:pPr>
            <a:r>
              <a:rPr lang="en-US" sz="1875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Assemble the decision, decide auto-route or send to approval queue</a:t>
            </a:r>
            <a:endParaRPr lang="en-US" sz="18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54360"/>
            <a:ext cx="1600111" cy="1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598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RETRIEVAL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779290"/>
            <a:ext cx="17602200" cy="54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924"/>
              </a:lnSpc>
              <a:buNone/>
            </a:pPr>
            <a:r>
              <a:rPr lang="en-US" sz="5700" b="1" spc="-85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RAG pipeline, end to end</a:t>
            </a:r>
            <a:endParaRPr lang="en-US" sz="5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3200400"/>
            <a:ext cx="16002000" cy="40475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54360"/>
            <a:ext cx="2218392" cy="1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598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· THE HUMAN GATE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779290"/>
            <a:ext cx="17602200" cy="54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924"/>
              </a:lnSpc>
              <a:buNone/>
            </a:pPr>
            <a:r>
              <a:rPr lang="en-US" sz="5700" b="1" spc="-85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acts without a person when it matters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143000" y="3879850"/>
            <a:ext cx="16002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3879850"/>
            <a:ext cx="5080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162300"/>
            <a:ext cx="5003800" cy="565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08" kern="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23000" y="3879850"/>
            <a:ext cx="5080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223000" y="3162300"/>
            <a:ext cx="5003800" cy="565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08" kern="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303001" y="3879850"/>
            <a:ext cx="5842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1303001" y="3162300"/>
            <a:ext cx="5788660" cy="565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08" kern="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NEXT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43000" y="5064323"/>
            <a:ext cx="16002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43000" y="5064323"/>
            <a:ext cx="5080000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076700"/>
            <a:ext cx="5003800" cy="8352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35"/>
              </a:lnSpc>
              <a:buNone/>
            </a:pPr>
            <a:r>
              <a:rPr lang="en-US" sz="225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Routed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6223000" y="5064323"/>
            <a:ext cx="5080000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223000" y="4076700"/>
            <a:ext cx="5003800" cy="8352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564"/>
              </a:lnSpc>
              <a:buNone/>
            </a:pPr>
            <a:r>
              <a:rPr lang="en-US" sz="2025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≥ 0.70, priority below Highest, no flags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11303001" y="5064323"/>
            <a:ext cx="5842000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1303001" y="4076700"/>
            <a:ext cx="5788660" cy="8352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564"/>
              </a:lnSpc>
              <a:buNone/>
            </a:pPr>
            <a:r>
              <a:rPr lang="en-US" sz="2025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Auto-approved — written back to Jira immediately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1143000" y="6248797"/>
            <a:ext cx="16002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43000" y="6248797"/>
            <a:ext cx="5080000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5261174"/>
            <a:ext cx="5003800" cy="8352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35"/>
              </a:lnSpc>
              <a:buNone/>
            </a:pPr>
            <a:r>
              <a:rPr lang="en-US" sz="225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Awaiting approval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6223000" y="6248797"/>
            <a:ext cx="5080000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223000" y="5261174"/>
            <a:ext cx="5003800" cy="8352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564"/>
              </a:lnSpc>
              <a:buNone/>
            </a:pPr>
            <a:r>
              <a:rPr lang="en-US" sz="2025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priority, thin evidence, a coin-flip band, or a duplicate</a:t>
            </a:r>
            <a:endParaRPr lang="en-US" sz="2025" dirty="0"/>
          </a:p>
        </p:txBody>
      </p:sp>
      <p:sp>
        <p:nvSpPr>
          <p:cNvPr id="23" name="Shape 21"/>
          <p:cNvSpPr/>
          <p:nvPr/>
        </p:nvSpPr>
        <p:spPr>
          <a:xfrm>
            <a:off x="11303001" y="6248797"/>
            <a:ext cx="5842000" cy="9525"/>
          </a:xfrm>
          <a:prstGeom prst="rect">
            <a:avLst/>
          </a:prstGeom>
          <a:solidFill>
            <a:srgbClr val="1A1A26">
              <a:alpha val="8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1303001" y="5261174"/>
            <a:ext cx="5788660" cy="8352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564"/>
              </a:lnSpc>
              <a:buNone/>
            </a:pPr>
            <a:r>
              <a:rPr lang="en-US" sz="2025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 in the manager's approval queue</a:t>
            </a:r>
            <a:endParaRPr lang="en-US" sz="2025" dirty="0"/>
          </a:p>
        </p:txBody>
      </p:sp>
      <p:sp>
        <p:nvSpPr>
          <p:cNvPr id="25" name="Shape 23"/>
          <p:cNvSpPr/>
          <p:nvPr/>
        </p:nvSpPr>
        <p:spPr>
          <a:xfrm>
            <a:off x="1143000" y="7346057"/>
            <a:ext cx="16002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54360"/>
            <a:ext cx="2931081" cy="1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598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· ACT 5 — TWO-WAY SYNC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779290"/>
            <a:ext cx="17602200" cy="54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924"/>
              </a:lnSpc>
              <a:buNone/>
            </a:pPr>
            <a:r>
              <a:rPr lang="en-US" sz="5700" b="1" spc="-85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approved decision writes back to Jira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562100" y="3228975"/>
            <a:ext cx="142494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462"/>
              </a:lnSpc>
              <a:buNone/>
            </a:pPr>
            <a:r>
              <a:rPr lang="en-US" sz="225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Priority in Jira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562100" y="3731816"/>
            <a:ext cx="142494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462"/>
              </a:lnSpc>
              <a:buNone/>
            </a:pPr>
            <a:r>
              <a:rPr lang="en-US" sz="225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team label </a:t>
            </a:r>
            <a:pPr algn="l" indent="0" marL="0">
              <a:lnSpc>
                <a:spcPct val="138462"/>
              </a:lnSpc>
              <a:buNone/>
            </a:pPr>
            <a:r>
              <a:rPr lang="en-US" sz="22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AWS, AZR, GCP or OPS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562100" y="4234656"/>
            <a:ext cx="13315950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462"/>
              </a:lnSpc>
              <a:buNone/>
            </a:pPr>
            <a:r>
              <a:rPr lang="en-US" sz="225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comment and a transition </a:t>
            </a:r>
            <a:pPr algn="l" indent="0" marL="0">
              <a:lnSpc>
                <a:spcPct val="138462"/>
              </a:lnSpc>
              <a:buNone/>
            </a:pPr>
            <a:r>
              <a:rPr lang="en-US" sz="22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full decision in Jira's own format, then In Progress or Done; an unknown transition is skipped with a warning, never a crash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143000" y="5825332"/>
            <a:ext cx="12382500" cy="3064471"/>
          </a:xfrm>
          <a:prstGeom prst="rect">
            <a:avLst/>
          </a:prstGeom>
          <a:ln w="6350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06550" y="6250781"/>
            <a:ext cx="11799063" cy="971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TicketSphere auto-approved: </a:t>
            </a:r>
            <a:pPr algn="l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algn="l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confidence </a:t>
            </a:r>
            <a:pPr algn="l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Payment callback timeouts match INC0000042's connection-pool exhaustion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[C2]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SLA resolve target 24h per the policy matrix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[C4]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606550" y="7549952"/>
            <a:ext cx="1179906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resolution: check the Lambda's reserved concurrency against the RDS Proxy max connections before increasing the timeout.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54360"/>
            <a:ext cx="1170781" cy="1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598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· STATUS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779290"/>
            <a:ext cx="17602200" cy="54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924"/>
              </a:lnSpc>
              <a:buNone/>
            </a:pPr>
            <a:r>
              <a:rPr lang="en-US" sz="5700" b="1" spc="-85" kern="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built and running today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942975" y="3228975"/>
            <a:ext cx="13611225" cy="3255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462"/>
              </a:lnSpc>
              <a:buNone/>
            </a:pPr>
            <a:r>
              <a:rPr lang="en-US" sz="22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ten-node triage graph, both retry loops, and the escalation ladder</a:t>
            </a:r>
            <a:endParaRPr lang="en-US" sz="2250" dirty="0"/>
          </a:p>
          <a:p>
            <a:pPr algn="l" indent="0" marL="0">
              <a:lnSpc>
                <a:spcPct val="138462"/>
              </a:lnSpc>
              <a:buNone/>
            </a:pPr>
            <a:r>
              <a:rPr lang="en-US" sz="22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retrieval — dense, BM25 and RRF — with CRAG grading and query rewrite</a:t>
            </a:r>
            <a:endParaRPr lang="en-US" sz="2250" dirty="0"/>
          </a:p>
          <a:p>
            <a:pPr algn="l" indent="0" marL="0">
              <a:lnSpc>
                <a:spcPct val="138462"/>
              </a:lnSpc>
              <a:buNone/>
            </a:pPr>
            <a:r>
              <a:rPr lang="en-US" sz="22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Chunk-level ACL applied inside the vector query, and its SQL equivalent</a:t>
            </a:r>
            <a:endParaRPr lang="en-US" sz="2250" dirty="0"/>
          </a:p>
          <a:p>
            <a:pPr algn="l" indent="0" marL="0">
              <a:lnSpc>
                <a:spcPct val="138462"/>
              </a:lnSpc>
              <a:buNone/>
            </a:pPr>
            <a:r>
              <a:rPr lang="en-US" sz="22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and output guardrails, PII masking, and the hash-chained audit log</a:t>
            </a:r>
            <a:endParaRPr lang="en-US" sz="2250" dirty="0"/>
          </a:p>
          <a:p>
            <a:pPr algn="l" indent="0" marL="0">
              <a:lnSpc>
                <a:spcPct val="138462"/>
              </a:lnSpc>
              <a:buNone/>
            </a:pPr>
            <a:r>
              <a:rPr lang="en-US" sz="22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Jira poll and write-back — priority, labels, comment, transition — watermarked and idempotent</a:t>
            </a:r>
            <a:endParaRPr lang="en-US" sz="2250" dirty="0"/>
          </a:p>
          <a:p>
            <a:pPr algn="l" indent="0" marL="0">
              <a:lnSpc>
                <a:spcPct val="138462"/>
              </a:lnSpc>
              <a:buNone/>
            </a:pPr>
            <a:r>
              <a:rPr lang="en-US" sz="22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as mean(gates), with named gates and a recorded limiting gate</a:t>
            </a:r>
            <a:endParaRPr lang="en-US" sz="2250" dirty="0"/>
          </a:p>
          <a:p>
            <a:pPr algn="l" indent="0" marL="0">
              <a:lnSpc>
                <a:spcPct val="138462"/>
              </a:lnSpc>
              <a:buNone/>
            </a:pPr>
            <a:r>
              <a:rPr lang="en-US" sz="2250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console: queue, history, triage, control tower, knowledge base, evals, usage, chat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2026-08-08T11:04:48Z</dcterms:created>
  <dcterms:modified xsi:type="dcterms:W3CDTF">2026-08-08T11:04:48Z</dcterms:modified>
</cp:coreProperties>
</file>